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0F9B8E">
              <a:alpha val="12000"/>
            </a:srgbClr>
          </a:solidFill>
          <a:ln w="12700">
            <a:solidFill>
              <a:srgbClr val="0F9B8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914400"/>
            <a:ext cx="2011680" cy="320040"/>
          </a:xfrm>
          <a:prstGeom prst="rect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DATA ANALYSIS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Deep-dive into sales, revenue, menu performance,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customer ordering patterns (Jan – Mar 2023)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526280"/>
            <a:ext cx="192024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4526280"/>
            <a:ext cx="4572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5445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12,234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47640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Order Lines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4526280"/>
            <a:ext cx="192024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4526280"/>
            <a:ext cx="4572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2670048" y="45445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5,370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70048" y="47640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Unique Orders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4526280"/>
            <a:ext cx="192024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4526280"/>
            <a:ext cx="4572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45445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$185K+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47640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4526280"/>
            <a:ext cx="192024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4526280"/>
            <a:ext cx="4572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45445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32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76288" y="47640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</a:rPr>
              <a:t>Menu Items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Performance Indicators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</a:rPr>
              <a:t>Jan 1 – Mar 31, 2023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54864" cy="1143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24712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5,370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1450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Total Orders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201168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51560"/>
            <a:ext cx="54864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124712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$185,426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71450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201168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51560"/>
            <a:ext cx="54864" cy="11430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124712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$34.53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71450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Avg Order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201168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51560"/>
            <a:ext cx="54864" cy="114300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124712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2.28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171450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Avg Items / Order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201168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77440"/>
            <a:ext cx="54864" cy="1143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450592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$602/day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0403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Avg Daily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377440"/>
            <a:ext cx="201168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2377440"/>
            <a:ext cx="54864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450592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17.4/day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606040" y="30403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Avg Daily Orders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377440"/>
            <a:ext cx="201168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377440"/>
            <a:ext cx="54864" cy="11430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450592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12,234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54880" y="30403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Total Items Sold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2377440"/>
            <a:ext cx="2011680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2377440"/>
            <a:ext cx="54864" cy="114300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2450592"/>
            <a:ext cx="1828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$15.06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03720" y="30403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Avg Item Price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Revenue by Cuisine Category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486400" cy="2926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594360"/>
            <a:ext cx="3108960" cy="3200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" y="3794760"/>
            <a:ext cx="8595360" cy="1143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2"/>
          <p:cNvSpPr/>
          <p:nvPr/>
        </p:nvSpPr>
        <p:spPr>
          <a:xfrm>
            <a:off x="274320" y="3794760"/>
            <a:ext cx="54864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3858768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💡 Key Insight  </a:t>
            </a:r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</a:rPr>
              <a:t>Italian cuisine leads revenue at ~$56K (30%), followed closely by Asian ($53K). American &amp; Mexican are nearly equal at ~$38K each. Italian's dominance is driven by high-priced entrées averaging $16.40.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Monthly Performance Trends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13232"/>
            <a:ext cx="475488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0" y="777240"/>
            <a:ext cx="356616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2"/>
          <p:cNvSpPr/>
          <p:nvPr/>
        </p:nvSpPr>
        <p:spPr>
          <a:xfrm>
            <a:off x="5303520" y="777240"/>
            <a:ext cx="54864" cy="96012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January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0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B8E"/>
                </a:solidFill>
              </a:rPr>
              <a:t>$56.4K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0" y="1399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1,750 orders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03520" y="1874520"/>
            <a:ext cx="356616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7"/>
          <p:cNvSpPr/>
          <p:nvPr/>
        </p:nvSpPr>
        <p:spPr>
          <a:xfrm>
            <a:off x="5303520" y="1874520"/>
            <a:ext cx="54864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February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2194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$62.8K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0" y="24963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1,849 orders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2971800"/>
            <a:ext cx="356616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Shape 12"/>
          <p:cNvSpPr/>
          <p:nvPr/>
        </p:nvSpPr>
        <p:spPr>
          <a:xfrm>
            <a:off x="5303520" y="2971800"/>
            <a:ext cx="54864" cy="9601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March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0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</a:rPr>
              <a:t>$66.2K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0" y="3593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1,771 orders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Shape 17"/>
          <p:cNvSpPr/>
          <p:nvPr/>
        </p:nvSpPr>
        <p:spPr>
          <a:xfrm>
            <a:off x="274320" y="3931920"/>
            <a:ext cx="54864" cy="100584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3995928"/>
            <a:ext cx="8321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</a:rPr>
              <a:t>📈 Trend  </a:t>
            </a:r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</a:rPr>
              <a:t>Revenue grew month-over-month: +11.3% Jan→Feb and +5.4% Feb→Mar. March achieved the highest revenue despite fewer orders than February, indicating larger average order sizes.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Menu Item Performance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566928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89320" y="749808"/>
            <a:ext cx="288036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2"/>
          <p:cNvSpPr/>
          <p:nvPr/>
        </p:nvSpPr>
        <p:spPr>
          <a:xfrm>
            <a:off x="5989320" y="749808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7955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#1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722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Hamburger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3624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622 orders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89320" y="1801368"/>
            <a:ext cx="288036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7"/>
          <p:cNvSpPr/>
          <p:nvPr/>
        </p:nvSpPr>
        <p:spPr>
          <a:xfrm>
            <a:off x="5989320" y="1801368"/>
            <a:ext cx="54864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847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#2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722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Edamame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24140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620 orders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2852928"/>
            <a:ext cx="288036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Shape 12"/>
          <p:cNvSpPr/>
          <p:nvPr/>
        </p:nvSpPr>
        <p:spPr>
          <a:xfrm>
            <a:off x="5989320" y="2852928"/>
            <a:ext cx="54864" cy="9144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2898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</a:rPr>
              <a:t>#3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722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Korean Beef Bowl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72200" y="3465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587 orders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4069080"/>
            <a:ext cx="859536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Shape 17"/>
          <p:cNvSpPr/>
          <p:nvPr/>
        </p:nvSpPr>
        <p:spPr>
          <a:xfrm>
            <a:off x="274320" y="4069080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4133088"/>
            <a:ext cx="8321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🍔 Insight  </a:t>
            </a:r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</a:rPr>
              <a:t>Hamburger &amp; Edamame are neck-and-neck as the most ordered items. 7 of the top 10 items are from Asian &amp; Italian cuisines, despite American having the simplest menu. Chicken Burrito is the top Mexican performer.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When Do Customers Order?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5120640" cy="23774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154680"/>
            <a:ext cx="5120640" cy="18288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0" y="685800"/>
            <a:ext cx="338328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2"/>
          <p:cNvSpPr/>
          <p:nvPr/>
        </p:nvSpPr>
        <p:spPr>
          <a:xfrm>
            <a:off x="5486400" y="685800"/>
            <a:ext cx="54864" cy="9601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3"/>
          <p:cNvSpPr/>
          <p:nvPr/>
        </p:nvSpPr>
        <p:spPr>
          <a:xfrm>
            <a:off x="5669280" y="731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Peak Hour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669280" y="941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12:00 – 13:00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66928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Highest lunch rush every day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0" y="1783080"/>
            <a:ext cx="338328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7"/>
          <p:cNvSpPr/>
          <p:nvPr/>
        </p:nvSpPr>
        <p:spPr>
          <a:xfrm>
            <a:off x="5486400" y="1783080"/>
            <a:ext cx="54864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8"/>
          <p:cNvSpPr/>
          <p:nvPr/>
        </p:nvSpPr>
        <p:spPr>
          <a:xfrm>
            <a:off x="5669280" y="1828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Best Day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669280" y="2039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Monday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6928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Consistently highest order volume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0" y="2880360"/>
            <a:ext cx="338328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0" y="2880360"/>
            <a:ext cx="54864" cy="96012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7" name="Text 13"/>
          <p:cNvSpPr/>
          <p:nvPr/>
        </p:nvSpPr>
        <p:spPr>
          <a:xfrm>
            <a:off x="5669280" y="2926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Slowest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669280" y="3136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9B8E"/>
                </a:solidFill>
              </a:rPr>
              <a:t>Saturday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66928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Weekend footfall drops off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486400" y="3977640"/>
            <a:ext cx="338328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7"/>
          <p:cNvSpPr/>
          <p:nvPr/>
        </p:nvSpPr>
        <p:spPr>
          <a:xfrm>
            <a:off x="5486400" y="3977640"/>
            <a:ext cx="54864" cy="960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2" name="Text 18"/>
          <p:cNvSpPr/>
          <p:nvPr/>
        </p:nvSpPr>
        <p:spPr>
          <a:xfrm>
            <a:off x="566928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Quiet Hour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669280" y="4233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8EE"/>
                </a:solidFill>
              </a:rPr>
              <a:t>21:00 – 22:00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566928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Fewest orders late evening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Order Size &amp; Value Analysis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572000" cy="23774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154680"/>
            <a:ext cx="4572000" cy="17830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74920" y="713232"/>
            <a:ext cx="374904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2"/>
          <p:cNvSpPr/>
          <p:nvPr/>
        </p:nvSpPr>
        <p:spPr>
          <a:xfrm>
            <a:off x="5074920" y="713232"/>
            <a:ext cx="54864" cy="9601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3"/>
          <p:cNvSpPr/>
          <p:nvPr/>
        </p:nvSpPr>
        <p:spPr>
          <a:xfrm>
            <a:off x="5257800" y="758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Avg Order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257800" y="969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</a:rPr>
              <a:t>$34.53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57800" y="1335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Mean spend per order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74920" y="1810512"/>
            <a:ext cx="374904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7"/>
          <p:cNvSpPr/>
          <p:nvPr/>
        </p:nvSpPr>
        <p:spPr>
          <a:xfrm>
            <a:off x="5074920" y="1810512"/>
            <a:ext cx="54864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8"/>
          <p:cNvSpPr/>
          <p:nvPr/>
        </p:nvSpPr>
        <p:spPr>
          <a:xfrm>
            <a:off x="5257800" y="1856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Median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257800" y="20665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$26.95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257800" y="2432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Half of orders below this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74920" y="2907792"/>
            <a:ext cx="374904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2"/>
          <p:cNvSpPr/>
          <p:nvPr/>
        </p:nvSpPr>
        <p:spPr>
          <a:xfrm>
            <a:off x="5074920" y="2907792"/>
            <a:ext cx="54864" cy="96012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7" name="Text 13"/>
          <p:cNvSpPr/>
          <p:nvPr/>
        </p:nvSpPr>
        <p:spPr>
          <a:xfrm>
            <a:off x="525780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Max Order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257800" y="31638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B8E"/>
                </a:solidFill>
              </a:rPr>
              <a:t>$192+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257800" y="3529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Largest single order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074920" y="4005072"/>
            <a:ext cx="374904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7"/>
          <p:cNvSpPr/>
          <p:nvPr/>
        </p:nvSpPr>
        <p:spPr>
          <a:xfrm>
            <a:off x="5074920" y="4005072"/>
            <a:ext cx="54864" cy="960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2" name="Text 18"/>
          <p:cNvSpPr/>
          <p:nvPr/>
        </p:nvSpPr>
        <p:spPr>
          <a:xfrm>
            <a:off x="5257800" y="4050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1-Item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257800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8EE"/>
                </a:solidFill>
              </a:rPr>
              <a:t>42%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5257800" y="4626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Orders with single item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Menu Engineering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</a:rPr>
              <a:t>Popularity vs Revenue — bubble size = price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62179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960120"/>
            <a:ext cx="2331720" cy="868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3"/>
          <p:cNvSpPr/>
          <p:nvPr/>
        </p:nvSpPr>
        <p:spPr>
          <a:xfrm>
            <a:off x="6583680" y="960120"/>
            <a:ext cx="54864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⭐ Stars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13075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B0"/>
                </a:solidFill>
              </a:rPr>
              <a:t>High pop, high rev — protect &amp; promote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83680" y="1965960"/>
            <a:ext cx="2331720" cy="868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65960"/>
            <a:ext cx="54864" cy="86868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</a:rPr>
              <a:t>🐄 Cash Cows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0" y="23134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B0"/>
                </a:solidFill>
              </a:rPr>
              <a:t>High pop, low rev — margin opportunity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583680" y="2971800"/>
            <a:ext cx="2331720" cy="868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971800"/>
            <a:ext cx="54864" cy="868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❓ Question Marks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66560" y="3319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B0"/>
                </a:solidFill>
              </a:rPr>
              <a:t>Low pop, high rev — need marketing push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583680" y="3977640"/>
            <a:ext cx="2331720" cy="868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3977640"/>
            <a:ext cx="54864" cy="868680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0B0"/>
                </a:solidFill>
              </a:rPr>
              <a:t>🐟 Dogs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4325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B0"/>
                </a:solidFill>
              </a:rPr>
              <a:t>Low pop, low rev — consider removing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Do Customers Order Together?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13232"/>
            <a:ext cx="868680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" y="3749040"/>
            <a:ext cx="54864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813048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🤝 Combo Opportunities  </a:t>
            </a:r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</a:rPr>
              <a:t>The most frequent pairs cross cuisine lines — Italian + Mexican combos dominate (e.g. Spaghetti + Chicken Burrito). This suggests customers intentionally mix cuisines in a single order.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Bundling these pairs as combo deals could increase average order value by 15–20%.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Strategic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4160520" cy="12344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868680"/>
            <a:ext cx="54864" cy="1234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Peak Hour Staffing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075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12:00–13:00 is the consistent peak. Staff up 30 min before noon; prep Italian &amp; Asian stations as top-revenue cuisines during this window.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160520" cy="12344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86868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914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Combo Meal Promotions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3075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Spaghetti + Chicken Burrito and similar cross-cuisine pairs appear 100+ times. Launch a 'Mix &amp; Match' combo board to formalise and upsell these orders.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240280"/>
            <a:ext cx="4160520" cy="12344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2240280"/>
            <a:ext cx="54864" cy="123444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86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286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Menu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6791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Review 'Dog' quadrant items (low popularity AND low revenue). Consider replacing 2–3 underperformers with seasonal specials to refresh the menu.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240280"/>
            <a:ext cx="4160520" cy="12344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2240280"/>
            <a:ext cx="54864" cy="1234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286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286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Monday Retention / Saturday Promo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6791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Monday drives peak weekday orders. Saturday is slowest — a weekend happy-hour deal or social media push could close the gap significantly.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611880"/>
            <a:ext cx="4160520" cy="12344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3611880"/>
            <a:ext cx="54864" cy="12344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57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657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Expand Italian &amp; Asian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0507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Italian (30% revenue share) and Asian cuisines over-index. Adding 2–3 premium entrées in these categories could lift average order value by $3–5.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160520" cy="12344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361188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657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657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Single-Item Order Upsell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40507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B0"/>
                </a:solidFill>
              </a:rPr>
              <a:t>42% of orders contain only 1 item. A prominent 'Add a side / drink?' prompt at order time could convert a meaningful share to 2-item orders.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371600"/>
            <a:ext cx="4572000" cy="4572000"/>
          </a:xfrm>
          <a:prstGeom prst="ellipse">
            <a:avLst/>
          </a:prstGeom>
          <a:solidFill>
            <a:srgbClr val="0F9B8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9456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</a:rPr>
              <a:t>Restaurant Analytics Report  •  Jan – Mar 2023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965960" cy="1188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246120"/>
            <a:ext cx="54864" cy="1188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</a:rPr>
              <a:t>$185K+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246120"/>
            <a:ext cx="1965960" cy="1188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3246120"/>
            <a:ext cx="54864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17.4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Avg Orders/Day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246120"/>
            <a:ext cx="1965960" cy="1188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3246120"/>
            <a:ext cx="54864" cy="118872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B8E"/>
                </a:solidFill>
              </a:rPr>
              <a:t>Italian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9204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Top Category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3246120"/>
            <a:ext cx="1965960" cy="1188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3246120"/>
            <a:ext cx="54864" cy="1188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33101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68EE"/>
                </a:solidFill>
              </a:rPr>
              <a:t>12:00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40880" y="3840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</a:rPr>
              <a:t>Peak Hour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77"/>
                </a:solidFill>
              </a:rPr>
              <a:t>Generated from menu_items.csv &amp; order_details.csv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Analytics Report</dc:title>
  <dc:subject>PptxGenJS Presentation</dc:subject>
  <dc:creator>PptxGenJS</dc:creator>
  <cp:lastModifiedBy>PptxGenJS</cp:lastModifiedBy>
  <cp:revision>1</cp:revision>
  <dcterms:created xsi:type="dcterms:W3CDTF">2026-03-15T21:40:34Z</dcterms:created>
  <dcterms:modified xsi:type="dcterms:W3CDTF">2026-03-15T21:40:34Z</dcterms:modified>
</cp:coreProperties>
</file>